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772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644884" y="333756"/>
            <a:ext cx="276225" cy="227329"/>
          </a:xfrm>
          <a:custGeom>
            <a:avLst/>
            <a:gdLst/>
            <a:ahLst/>
            <a:cxnLst/>
            <a:rect l="l" t="t" r="r" b="b"/>
            <a:pathLst>
              <a:path w="276225" h="227329">
                <a:moveTo>
                  <a:pt x="206883" y="0"/>
                </a:moveTo>
                <a:lnTo>
                  <a:pt x="174115" y="9665"/>
                </a:lnTo>
                <a:lnTo>
                  <a:pt x="147530" y="34832"/>
                </a:lnTo>
                <a:lnTo>
                  <a:pt x="123828" y="69759"/>
                </a:lnTo>
                <a:lnTo>
                  <a:pt x="99711" y="108703"/>
                </a:lnTo>
                <a:lnTo>
                  <a:pt x="71882" y="145923"/>
                </a:lnTo>
                <a:lnTo>
                  <a:pt x="64775" y="169177"/>
                </a:lnTo>
                <a:lnTo>
                  <a:pt x="49133" y="189087"/>
                </a:lnTo>
                <a:lnTo>
                  <a:pt x="26894" y="204019"/>
                </a:lnTo>
                <a:lnTo>
                  <a:pt x="0" y="212344"/>
                </a:lnTo>
                <a:lnTo>
                  <a:pt x="8669" y="218396"/>
                </a:lnTo>
                <a:lnTo>
                  <a:pt x="21066" y="223043"/>
                </a:lnTo>
                <a:lnTo>
                  <a:pt x="36486" y="226024"/>
                </a:lnTo>
                <a:lnTo>
                  <a:pt x="54229" y="227076"/>
                </a:lnTo>
                <a:lnTo>
                  <a:pt x="89733" y="224549"/>
                </a:lnTo>
                <a:lnTo>
                  <a:pt x="125475" y="216773"/>
                </a:lnTo>
                <a:lnTo>
                  <a:pt x="157884" y="203448"/>
                </a:lnTo>
                <a:lnTo>
                  <a:pt x="183388" y="184277"/>
                </a:lnTo>
                <a:lnTo>
                  <a:pt x="157430" y="180717"/>
                </a:lnTo>
                <a:lnTo>
                  <a:pt x="137366" y="168846"/>
                </a:lnTo>
                <a:lnTo>
                  <a:pt x="124184" y="150308"/>
                </a:lnTo>
                <a:lnTo>
                  <a:pt x="118872" y="126746"/>
                </a:lnTo>
                <a:lnTo>
                  <a:pt x="132845" y="140964"/>
                </a:lnTo>
                <a:lnTo>
                  <a:pt x="148367" y="150574"/>
                </a:lnTo>
                <a:lnTo>
                  <a:pt x="165270" y="156017"/>
                </a:lnTo>
                <a:lnTo>
                  <a:pt x="183388" y="157734"/>
                </a:lnTo>
                <a:lnTo>
                  <a:pt x="219533" y="150258"/>
                </a:lnTo>
                <a:lnTo>
                  <a:pt x="248904" y="129936"/>
                </a:lnTo>
                <a:lnTo>
                  <a:pt x="268630" y="99923"/>
                </a:lnTo>
                <a:lnTo>
                  <a:pt x="275844" y="63373"/>
                </a:lnTo>
                <a:lnTo>
                  <a:pt x="272087" y="44148"/>
                </a:lnTo>
                <a:lnTo>
                  <a:pt x="262270" y="23399"/>
                </a:lnTo>
                <a:lnTo>
                  <a:pt x="242000" y="6794"/>
                </a:lnTo>
                <a:lnTo>
                  <a:pt x="206883" y="0"/>
                </a:lnTo>
                <a:close/>
              </a:path>
            </a:pathLst>
          </a:custGeom>
          <a:solidFill>
            <a:srgbClr val="12AB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501628" y="172212"/>
            <a:ext cx="419100" cy="354330"/>
          </a:xfrm>
          <a:custGeom>
            <a:avLst/>
            <a:gdLst/>
            <a:ahLst/>
            <a:cxnLst/>
            <a:rect l="l" t="t" r="r" b="b"/>
            <a:pathLst>
              <a:path w="419100" h="354330">
                <a:moveTo>
                  <a:pt x="224154" y="0"/>
                </a:moveTo>
                <a:lnTo>
                  <a:pt x="200229" y="22070"/>
                </a:lnTo>
                <a:lnTo>
                  <a:pt x="168128" y="43878"/>
                </a:lnTo>
                <a:lnTo>
                  <a:pt x="131353" y="66544"/>
                </a:lnTo>
                <a:lnTo>
                  <a:pt x="93408" y="91186"/>
                </a:lnTo>
                <a:lnTo>
                  <a:pt x="57797" y="118923"/>
                </a:lnTo>
                <a:lnTo>
                  <a:pt x="28023" y="150876"/>
                </a:lnTo>
                <a:lnTo>
                  <a:pt x="7589" y="188162"/>
                </a:lnTo>
                <a:lnTo>
                  <a:pt x="0" y="231902"/>
                </a:lnTo>
                <a:lnTo>
                  <a:pt x="5536" y="268354"/>
                </a:lnTo>
                <a:lnTo>
                  <a:pt x="45755" y="328021"/>
                </a:lnTo>
                <a:lnTo>
                  <a:pt x="97462" y="352139"/>
                </a:lnTo>
                <a:lnTo>
                  <a:pt x="117236" y="354234"/>
                </a:lnTo>
                <a:lnTo>
                  <a:pt x="137034" y="352758"/>
                </a:lnTo>
                <a:lnTo>
                  <a:pt x="173583" y="341018"/>
                </a:lnTo>
                <a:lnTo>
                  <a:pt x="215392" y="308229"/>
                </a:lnTo>
                <a:lnTo>
                  <a:pt x="243208" y="271124"/>
                </a:lnTo>
                <a:lnTo>
                  <a:pt x="267293" y="232343"/>
                </a:lnTo>
                <a:lnTo>
                  <a:pt x="290958" y="197586"/>
                </a:lnTo>
                <a:lnTo>
                  <a:pt x="317512" y="172552"/>
                </a:lnTo>
                <a:lnTo>
                  <a:pt x="350266" y="162941"/>
                </a:lnTo>
                <a:lnTo>
                  <a:pt x="407143" y="162941"/>
                </a:lnTo>
                <a:lnTo>
                  <a:pt x="399129" y="141763"/>
                </a:lnTo>
                <a:lnTo>
                  <a:pt x="376451" y="106425"/>
                </a:lnTo>
                <a:lnTo>
                  <a:pt x="347345" y="74803"/>
                </a:lnTo>
                <a:lnTo>
                  <a:pt x="294179" y="34671"/>
                </a:lnTo>
                <a:lnTo>
                  <a:pt x="234442" y="4445"/>
                </a:lnTo>
                <a:lnTo>
                  <a:pt x="231521" y="2921"/>
                </a:lnTo>
                <a:lnTo>
                  <a:pt x="228600" y="1524"/>
                </a:lnTo>
                <a:lnTo>
                  <a:pt x="224154" y="0"/>
                </a:lnTo>
                <a:close/>
              </a:path>
              <a:path w="419100" h="354330">
                <a:moveTo>
                  <a:pt x="407143" y="162941"/>
                </a:moveTo>
                <a:lnTo>
                  <a:pt x="350266" y="162941"/>
                </a:lnTo>
                <a:lnTo>
                  <a:pt x="385310" y="169695"/>
                </a:lnTo>
                <a:lnTo>
                  <a:pt x="405542" y="186213"/>
                </a:lnTo>
                <a:lnTo>
                  <a:pt x="415345" y="206875"/>
                </a:lnTo>
                <a:lnTo>
                  <a:pt x="419100" y="226060"/>
                </a:lnTo>
                <a:lnTo>
                  <a:pt x="419100" y="223012"/>
                </a:lnTo>
                <a:lnTo>
                  <a:pt x="413853" y="180673"/>
                </a:lnTo>
                <a:lnTo>
                  <a:pt x="407143" y="162941"/>
                </a:lnTo>
                <a:close/>
              </a:path>
            </a:pathLst>
          </a:custGeom>
          <a:solidFill>
            <a:srgbClr val="006F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56179" y="243916"/>
            <a:ext cx="7279640" cy="346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380" y="6650492"/>
            <a:ext cx="11702415" cy="1244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9352915" algn="l"/>
                <a:tab pos="11636375" algn="l"/>
              </a:tabLst>
            </a:pP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P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rese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ntati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on 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Titl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e</a:t>
            </a:r>
            <a:r>
              <a:rPr sz="800" spc="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|</a:t>
            </a:r>
            <a:r>
              <a:rPr sz="800" spc="1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A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uth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or</a:t>
            </a:r>
            <a:r>
              <a:rPr sz="800" spc="1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| D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at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e	©</a:t>
            </a:r>
            <a:r>
              <a:rPr sz="800" spc="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C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a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pgem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in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i 2017.</a:t>
            </a:r>
            <a:r>
              <a:rPr sz="800" spc="-2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All</a:t>
            </a:r>
            <a:r>
              <a:rPr sz="800" spc="2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r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i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g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ht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s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reserv</a:t>
            </a:r>
            <a:r>
              <a:rPr sz="800" spc="-15" dirty="0">
                <a:solidFill>
                  <a:srgbClr val="A6A6A6"/>
                </a:solidFill>
                <a:latin typeface="Verdana"/>
                <a:cs typeface="Verdana"/>
              </a:rPr>
              <a:t>e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d </a:t>
            </a:r>
            <a:r>
              <a:rPr sz="800" spc="-1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12ABDB"/>
                </a:solidFill>
                <a:latin typeface="Verdana"/>
                <a:cs typeface="Verdana"/>
              </a:rPr>
              <a:t>|	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1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37226" y="2570479"/>
            <a:ext cx="1134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6FAC"/>
                </a:solidFill>
                <a:latin typeface="Verdana"/>
                <a:cs typeface="Verdana"/>
              </a:rPr>
              <a:t>A</a:t>
            </a: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chi</a:t>
            </a:r>
            <a:r>
              <a:rPr sz="1200" b="1" spc="-10" dirty="0">
                <a:solidFill>
                  <a:srgbClr val="006FAC"/>
                </a:solidFill>
                <a:latin typeface="Verdana"/>
                <a:cs typeface="Verdana"/>
              </a:rPr>
              <a:t>e</a:t>
            </a:r>
            <a:r>
              <a:rPr sz="1200" b="1" dirty="0">
                <a:solidFill>
                  <a:srgbClr val="006FAC"/>
                </a:solidFill>
                <a:latin typeface="Verdana"/>
                <a:cs typeface="Verdana"/>
              </a:rPr>
              <a:t>v</a:t>
            </a: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emen</a:t>
            </a:r>
            <a:r>
              <a:rPr sz="1200" b="1" dirty="0">
                <a:solidFill>
                  <a:srgbClr val="006FAC"/>
                </a:solidFill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30272" y="1568576"/>
            <a:ext cx="7543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Email</a:t>
            </a:r>
            <a:r>
              <a:rPr sz="1100" b="1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ID: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723" y="2133600"/>
            <a:ext cx="5108575" cy="675640"/>
            <a:chOff x="77723" y="2133600"/>
            <a:chExt cx="5108575" cy="6756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723" y="2133600"/>
              <a:ext cx="611124" cy="6126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39639" y="2362200"/>
              <a:ext cx="446532" cy="446532"/>
            </a:xfrm>
            <a:prstGeom prst="rect">
              <a:avLst/>
            </a:prstGeom>
          </p:spPr>
        </p:pic>
      </p:grp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778050"/>
              </p:ext>
            </p:extLst>
          </p:nvPr>
        </p:nvGraphicFramePr>
        <p:xfrm>
          <a:off x="9224898" y="1898142"/>
          <a:ext cx="5038090" cy="4752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9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8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4975">
                <a:tc>
                  <a:txBody>
                    <a:bodyPr/>
                    <a:lstStyle/>
                    <a:p>
                      <a:pPr marL="92075" marR="207898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Java</a:t>
                      </a:r>
                    </a:p>
                  </a:txBody>
                  <a:tcPr marL="0" marR="0" marT="41275" marB="0">
                    <a:lnT w="12700">
                      <a:solidFill>
                        <a:srgbClr val="12ABDB"/>
                      </a:solidFill>
                      <a:prstDash val="solid"/>
                    </a:lnT>
                    <a:lnB w="12700">
                      <a:solidFill>
                        <a:srgbClr val="12AB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233679" algn="just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Basics,</a:t>
                      </a:r>
                      <a:r>
                        <a:rPr sz="1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 OOPS,</a:t>
                      </a:r>
                      <a:r>
                        <a:rPr sz="1000" spc="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 </a:t>
                      </a:r>
                      <a:r>
                        <a:rPr sz="10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Exception </a:t>
                      </a:r>
                      <a:r>
                        <a:rPr sz="1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Handling,</a:t>
                      </a:r>
                      <a:r>
                        <a:rPr sz="10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Collections</a:t>
                      </a:r>
                      <a:r>
                        <a:rPr sz="10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&amp; </a:t>
                      </a:r>
                      <a:r>
                        <a:rPr sz="1000" spc="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 </a:t>
                      </a:r>
                      <a:r>
                        <a:rPr sz="10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Generics,</a:t>
                      </a:r>
                      <a:r>
                        <a:rPr sz="1000" spc="-2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Java</a:t>
                      </a:r>
                      <a:r>
                        <a:rPr sz="10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8</a:t>
                      </a:r>
                      <a:r>
                        <a:rPr sz="10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/>
                        </a:rPr>
                        <a:t> Features</a:t>
                      </a:r>
                      <a:endParaRPr sz="1000" dirty="0"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12ABDB"/>
                      </a:solidFill>
                      <a:prstDash val="solid"/>
                    </a:lnT>
                    <a:lnB w="12700">
                      <a:solidFill>
                        <a:srgbClr val="12AB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646">
                <a:tc>
                  <a:txBody>
                    <a:bodyPr/>
                    <a:lstStyle/>
                    <a:p>
                      <a:pPr marL="92075" marR="21507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000" dirty="0">
                          <a:latin typeface="Verdana"/>
                          <a:cs typeface="Verdana"/>
                        </a:rPr>
                        <a:t>Spring </a:t>
                      </a:r>
                      <a:r>
                        <a:rPr sz="10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F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am</a:t>
                      </a:r>
                      <a:r>
                        <a:rPr sz="1000" spc="-1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wor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k</a:t>
                      </a:r>
                    </a:p>
                  </a:txBody>
                  <a:tcPr marL="0" marR="0" marT="45085" marB="0">
                    <a:lnT w="12700">
                      <a:solidFill>
                        <a:srgbClr val="12ABDB"/>
                      </a:solidFill>
                      <a:prstDash val="solid"/>
                    </a:lnT>
                    <a:solidFill>
                      <a:srgbClr val="CFEEF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14960">
                        <a:lnSpc>
                          <a:spcPts val="1600"/>
                        </a:lnSpc>
                        <a:spcBef>
                          <a:spcPts val="75"/>
                        </a:spcBef>
                      </a:pPr>
                      <a:r>
                        <a:rPr sz="1000" dirty="0">
                          <a:latin typeface="Verdana"/>
                          <a:cs typeface="Verdana"/>
                        </a:rPr>
                        <a:t>Spring</a:t>
                      </a:r>
                      <a:r>
                        <a:rPr sz="10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MVC.</a:t>
                      </a:r>
                      <a:r>
                        <a:rPr sz="10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Spring</a:t>
                      </a:r>
                      <a:r>
                        <a:rPr sz="10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JDBC, </a:t>
                      </a:r>
                      <a:r>
                        <a:rPr sz="1000" spc="-3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0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Spring</a:t>
                      </a:r>
                      <a:r>
                        <a:rPr sz="1000" spc="-10" dirty="0">
                          <a:latin typeface="Verdana"/>
                          <a:cs typeface="Verdana"/>
                        </a:rPr>
                        <a:t> Boot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12700">
                      <a:solidFill>
                        <a:srgbClr val="12ABDB"/>
                      </a:solidFill>
                      <a:prstDash val="solid"/>
                    </a:lnT>
                    <a:solidFill>
                      <a:srgbClr val="CF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687">
                <a:tc>
                  <a:txBody>
                    <a:bodyPr/>
                    <a:lstStyle/>
                    <a:p>
                      <a:pPr marL="92075" marR="2078989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IN" sz="1000" dirty="0">
                          <a:latin typeface="Verdana"/>
                          <a:cs typeface="Verdana"/>
                        </a:rPr>
                        <a:t>React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85725" marR="1924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Components, Hooks, Virtual DOM, Routing, Form, React Redux &amp; Validation</a:t>
                      </a:r>
                      <a:endParaRPr sz="1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/>
                      </a:endParaRP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771">
                <a:tc>
                  <a:txBody>
                    <a:bodyPr/>
                    <a:lstStyle/>
                    <a:p>
                      <a:pPr marL="92075" marR="2078989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RDBMS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CFEEF7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0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MySQL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CF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5524">
                <a:tc>
                  <a:txBody>
                    <a:bodyPr/>
                    <a:lstStyle/>
                    <a:p>
                      <a:pPr marL="92075" marR="2078989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UI</a:t>
                      </a:r>
                      <a:endParaRPr sz="1000">
                        <a:latin typeface="Verdana"/>
                        <a:cs typeface="Verdana"/>
                      </a:endParaRPr>
                    </a:p>
                    <a:p>
                      <a:pPr marL="92075" marR="2078989">
                        <a:lnSpc>
                          <a:spcPct val="100000"/>
                        </a:lnSpc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Technology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spc="-10" dirty="0">
                          <a:latin typeface="Verdana"/>
                          <a:cs typeface="Verdana"/>
                        </a:rPr>
                        <a:t>HTML</a:t>
                      </a:r>
                      <a:r>
                        <a:rPr sz="10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5,</a:t>
                      </a:r>
                      <a:r>
                        <a:rPr sz="10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CSS,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JavaScript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384">
                <a:tc>
                  <a:txBody>
                    <a:bodyPr/>
                    <a:lstStyle/>
                    <a:p>
                      <a:pPr marL="92075" marR="2078989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Tools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solidFill>
                      <a:srgbClr val="CFEEF7"/>
                    </a:solidFill>
                  </a:tcPr>
                </a:tc>
                <a:tc>
                  <a:txBody>
                    <a:bodyPr/>
                    <a:lstStyle/>
                    <a:p>
                      <a:pPr marL="59690" marR="45656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Git ,GitHub, Postman,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Eclipse,</a:t>
                      </a:r>
                      <a:r>
                        <a:rPr sz="10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Visual </a:t>
                      </a:r>
                      <a:r>
                        <a:rPr sz="1000" spc="-3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dirty="0">
                          <a:latin typeface="Verdana"/>
                          <a:cs typeface="Verdana"/>
                        </a:rPr>
                        <a:t>Studio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 code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46355" marB="0">
                    <a:solidFill>
                      <a:srgbClr val="CF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2363">
                <a:tc>
                  <a:txBody>
                    <a:bodyPr/>
                    <a:lstStyle/>
                    <a:p>
                      <a:pPr marL="92075" marR="26142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000" dirty="0">
                          <a:latin typeface="Verdana"/>
                          <a:cs typeface="Verdana"/>
                        </a:rPr>
                        <a:t>Add  </a:t>
                      </a:r>
                      <a:r>
                        <a:rPr sz="1000" spc="-10" dirty="0">
                          <a:latin typeface="Verdana"/>
                          <a:cs typeface="Verdana"/>
                        </a:rPr>
                        <a:t>On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ts val="1110"/>
                        </a:lnSpc>
                        <a:tabLst>
                          <a:tab pos="2952115" algn="l"/>
                        </a:tabLst>
                      </a:pPr>
                      <a:r>
                        <a:rPr sz="1000" u="heavy" dirty="0">
                          <a:uFill>
                            <a:solidFill>
                              <a:srgbClr val="12ABDB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1000" u="heavy" spc="25" dirty="0">
                          <a:uFill>
                            <a:solidFill>
                              <a:srgbClr val="12ABDB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1000" u="heavy" dirty="0">
                          <a:uFill>
                            <a:solidFill>
                              <a:srgbClr val="12ABDB"/>
                            </a:solidFill>
                          </a:uFill>
                          <a:latin typeface="Verdana"/>
                          <a:cs typeface="Verdana"/>
                        </a:rPr>
                        <a:t>Skills	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85725" marR="50482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00" spc="-5" dirty="0">
                          <a:latin typeface="Verdana"/>
                          <a:cs typeface="Verdana"/>
                        </a:rPr>
                        <a:t>Communication , </a:t>
                      </a:r>
                      <a:r>
                        <a:rPr sz="1000" spc="-10" dirty="0">
                          <a:latin typeface="Verdana"/>
                          <a:cs typeface="Verdana"/>
                        </a:rPr>
                        <a:t>Team </a:t>
                      </a:r>
                      <a:r>
                        <a:rPr sz="1000" spc="-3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000" spc="-5" dirty="0">
                          <a:latin typeface="Verdana"/>
                          <a:cs typeface="Verdana"/>
                        </a:rPr>
                        <a:t>management</a:t>
                      </a:r>
                      <a:r>
                        <a:rPr lang="en-IN" sz="1000" spc="-5" dirty="0">
                          <a:latin typeface="Verdana"/>
                          <a:cs typeface="Verdana"/>
                        </a:rPr>
                        <a:t> , Problem solving, Adaptability</a:t>
                      </a:r>
                      <a:endParaRPr sz="1000" dirty="0">
                        <a:latin typeface="Verdana"/>
                        <a:cs typeface="Verdana"/>
                      </a:endParaRPr>
                    </a:p>
                  </a:txBody>
                  <a:tcPr marL="0" marR="0" marT="4635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2430272" y="713308"/>
            <a:ext cx="2436495" cy="805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Analyst/Software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Engineer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se</a:t>
            </a:r>
            <a:r>
              <a:rPr sz="1100" b="1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Lo</a:t>
            </a: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on:</a:t>
            </a:r>
            <a:r>
              <a:rPr sz="1100" b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100" spc="-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MBAI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57803" y="1518488"/>
            <a:ext cx="388391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u="sng" spc="-5" dirty="0" err="1">
                <a:solidFill>
                  <a:srgbClr val="87D4EC"/>
                </a:solidFill>
                <a:uFill>
                  <a:solidFill>
                    <a:srgbClr val="87D4EC"/>
                  </a:solidFill>
                </a:uFill>
                <a:latin typeface="Verdana"/>
                <a:cs typeface="Verdana"/>
              </a:rPr>
              <a:t>Pranav.Bhaskar-kumbhar</a:t>
            </a:r>
            <a:r>
              <a:rPr sz="1200" u="sng" spc="-5" dirty="0">
                <a:solidFill>
                  <a:srgbClr val="87D4EC"/>
                </a:solidFill>
                <a:uFill>
                  <a:solidFill>
                    <a:srgbClr val="87D4EC"/>
                  </a:solidFill>
                </a:uFill>
                <a:latin typeface="Verdana"/>
                <a:cs typeface="Verdana"/>
              </a:rPr>
              <a:t>@</a:t>
            </a:r>
            <a:r>
              <a:rPr lang="en-IN" sz="1200" u="sng" spc="-5" dirty="0">
                <a:solidFill>
                  <a:srgbClr val="87D4EC"/>
                </a:solidFill>
                <a:uFill>
                  <a:solidFill>
                    <a:srgbClr val="87D4EC"/>
                  </a:solidFill>
                </a:uFill>
                <a:latin typeface="Verdana"/>
                <a:cs typeface="Verdana"/>
              </a:rPr>
              <a:t>capgemini.com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3107" y="2432812"/>
            <a:ext cx="4038726" cy="437607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640"/>
              </a:spcBef>
            </a:pP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Strengths</a:t>
            </a:r>
            <a:endParaRPr sz="12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200" b="1" spc="-5" dirty="0">
                <a:latin typeface="Verdana"/>
                <a:cs typeface="Verdana"/>
              </a:rPr>
              <a:t>Full</a:t>
            </a:r>
            <a:r>
              <a:rPr sz="1200" b="1" spc="-15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Stack</a:t>
            </a:r>
            <a:r>
              <a:rPr sz="1200" b="1" spc="-45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Developer</a:t>
            </a:r>
            <a:endParaRPr sz="1200" dirty="0">
              <a:latin typeface="Verdana"/>
              <a:cs typeface="Verdana"/>
            </a:endParaRPr>
          </a:p>
          <a:p>
            <a:pPr marL="81915" indent="-69850">
              <a:lnSpc>
                <a:spcPct val="100000"/>
              </a:lnSpc>
              <a:spcBef>
                <a:spcPts val="1200"/>
              </a:spcBef>
              <a:buSzPct val="90000"/>
              <a:buChar char="•"/>
              <a:tabLst>
                <a:tab pos="82550" algn="l"/>
              </a:tabLst>
            </a:pPr>
            <a:r>
              <a:rPr sz="1000" spc="-10" dirty="0">
                <a:latin typeface="Verdana"/>
                <a:cs typeface="Verdana"/>
              </a:rPr>
              <a:t>Good</a:t>
            </a:r>
            <a:r>
              <a:rPr sz="1000" spc="4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Knowledge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of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java programming</a:t>
            </a:r>
            <a:endParaRPr lang="en-IN" sz="1000" spc="-5" dirty="0">
              <a:latin typeface="Verdana"/>
              <a:cs typeface="Verdana"/>
            </a:endParaRPr>
          </a:p>
          <a:p>
            <a:pPr marL="81915" indent="-69850">
              <a:spcBef>
                <a:spcPts val="1200"/>
              </a:spcBef>
              <a:buSzPct val="90000"/>
              <a:buFontTx/>
              <a:buChar char="•"/>
              <a:tabLst>
                <a:tab pos="82550" algn="l"/>
              </a:tabLst>
            </a:pPr>
            <a:r>
              <a:rPr lang="en-IN" sz="1000" spc="-10" dirty="0">
                <a:latin typeface="Verdana"/>
                <a:cs typeface="Verdana"/>
              </a:rPr>
              <a:t>Good</a:t>
            </a:r>
            <a:r>
              <a:rPr lang="en-IN" sz="1000" spc="30" dirty="0">
                <a:latin typeface="Verdana"/>
                <a:cs typeface="Verdana"/>
              </a:rPr>
              <a:t> </a:t>
            </a:r>
            <a:r>
              <a:rPr lang="en-IN" sz="1000" dirty="0">
                <a:latin typeface="Verdana"/>
                <a:cs typeface="Verdana"/>
              </a:rPr>
              <a:t>with</a:t>
            </a:r>
            <a:r>
              <a:rPr lang="en-IN" sz="1000" spc="-30" dirty="0">
                <a:latin typeface="Verdana"/>
                <a:cs typeface="Verdana"/>
              </a:rPr>
              <a:t> </a:t>
            </a:r>
            <a:r>
              <a:rPr lang="en-IN" sz="1000" dirty="0">
                <a:latin typeface="Verdana"/>
                <a:cs typeface="Verdana"/>
              </a:rPr>
              <a:t>Spring</a:t>
            </a:r>
            <a:r>
              <a:rPr lang="en-IN" sz="1000" spc="-15" dirty="0">
                <a:latin typeface="Verdana"/>
                <a:cs typeface="Verdana"/>
              </a:rPr>
              <a:t> </a:t>
            </a:r>
            <a:r>
              <a:rPr lang="en-IN" sz="1000" spc="-10" dirty="0">
                <a:latin typeface="Verdana"/>
                <a:cs typeface="Verdana"/>
              </a:rPr>
              <a:t>Framework</a:t>
            </a:r>
            <a:r>
              <a:rPr sz="1000" spc="-5" dirty="0">
                <a:latin typeface="Verdana"/>
                <a:cs typeface="Verdana"/>
              </a:rPr>
              <a:t>.</a:t>
            </a:r>
            <a:endParaRPr lang="en-IN" sz="1000" spc="-5" dirty="0">
              <a:latin typeface="Verdana"/>
              <a:cs typeface="Verdana"/>
            </a:endParaRPr>
          </a:p>
          <a:p>
            <a:pPr marL="81915" indent="-69850">
              <a:spcBef>
                <a:spcPts val="1200"/>
              </a:spcBef>
              <a:buSzPct val="90000"/>
              <a:buFontTx/>
              <a:buChar char="•"/>
              <a:tabLst>
                <a:tab pos="82550" algn="l"/>
              </a:tabLst>
            </a:pPr>
            <a:r>
              <a:rPr lang="en-IN" sz="1000" spc="-10" dirty="0">
                <a:latin typeface="Verdana"/>
                <a:cs typeface="Verdana"/>
              </a:rPr>
              <a:t>Good</a:t>
            </a:r>
            <a:r>
              <a:rPr lang="en-IN" sz="1000" spc="40" dirty="0">
                <a:latin typeface="Verdana"/>
                <a:cs typeface="Verdana"/>
              </a:rPr>
              <a:t> </a:t>
            </a:r>
            <a:r>
              <a:rPr lang="en-IN" sz="1000" dirty="0">
                <a:latin typeface="Verdana"/>
                <a:cs typeface="Verdana"/>
              </a:rPr>
              <a:t>in</a:t>
            </a:r>
            <a:r>
              <a:rPr lang="en-IN" sz="1000" spc="-10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developing</a:t>
            </a:r>
            <a:r>
              <a:rPr lang="en-IN" sz="1000" spc="15" dirty="0">
                <a:latin typeface="Verdana"/>
                <a:cs typeface="Verdana"/>
              </a:rPr>
              <a:t> </a:t>
            </a:r>
            <a:r>
              <a:rPr lang="en-IN" sz="1000" spc="-10" dirty="0">
                <a:latin typeface="Verdana"/>
                <a:cs typeface="Verdana"/>
              </a:rPr>
              <a:t>web</a:t>
            </a:r>
            <a:r>
              <a:rPr lang="en-IN" sz="1000" spc="5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pages</a:t>
            </a:r>
            <a:r>
              <a:rPr lang="en-IN" sz="1000" spc="15" dirty="0">
                <a:latin typeface="Verdana"/>
                <a:cs typeface="Verdana"/>
              </a:rPr>
              <a:t> </a:t>
            </a:r>
            <a:r>
              <a:rPr lang="en-IN" sz="1000" dirty="0">
                <a:latin typeface="Verdana"/>
                <a:cs typeface="Verdana"/>
              </a:rPr>
              <a:t>using</a:t>
            </a:r>
            <a:r>
              <a:rPr lang="en-IN" sz="1000" spc="5" dirty="0">
                <a:latin typeface="Verdana"/>
                <a:cs typeface="Verdana"/>
              </a:rPr>
              <a:t> </a:t>
            </a:r>
            <a:r>
              <a:rPr lang="en-IN" sz="1000" spc="-10" dirty="0">
                <a:latin typeface="Verdana"/>
                <a:cs typeface="Verdana"/>
              </a:rPr>
              <a:t>HTML,</a:t>
            </a:r>
            <a:r>
              <a:rPr lang="en-IN" sz="1000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CSS.</a:t>
            </a:r>
          </a:p>
          <a:p>
            <a:pPr marL="81915" indent="-69850">
              <a:spcBef>
                <a:spcPts val="1200"/>
              </a:spcBef>
              <a:buSzPct val="90000"/>
              <a:buFontTx/>
              <a:buChar char="•"/>
              <a:tabLst>
                <a:tab pos="82550" algn="l"/>
              </a:tabLst>
            </a:pPr>
            <a:r>
              <a:rPr lang="en-IN" sz="1000" spc="-5" dirty="0">
                <a:latin typeface="Verdana"/>
                <a:cs typeface="Verdana"/>
              </a:rPr>
              <a:t>Currently</a:t>
            </a:r>
            <a:r>
              <a:rPr lang="en-IN" sz="1000" spc="35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learning</a:t>
            </a:r>
            <a:r>
              <a:rPr lang="en-IN" sz="1000" dirty="0">
                <a:latin typeface="Verdana"/>
                <a:cs typeface="Verdana"/>
              </a:rPr>
              <a:t> </a:t>
            </a:r>
            <a:r>
              <a:rPr lang="en-IN" sz="1000" b="1" spc="-5" dirty="0">
                <a:latin typeface="Verdana"/>
                <a:cs typeface="Verdana"/>
              </a:rPr>
              <a:t>on</a:t>
            </a:r>
            <a:r>
              <a:rPr lang="en-IN" sz="1000" b="1" spc="10" dirty="0">
                <a:latin typeface="Verdana"/>
                <a:cs typeface="Verdana"/>
              </a:rPr>
              <a:t> </a:t>
            </a:r>
            <a:r>
              <a:rPr lang="en-IN" sz="1000" b="1" spc="-10" dirty="0" err="1">
                <a:latin typeface="Verdana"/>
                <a:cs typeface="Verdana"/>
              </a:rPr>
              <a:t>iTransform</a:t>
            </a:r>
            <a:r>
              <a:rPr lang="en-IN" sz="1000" b="1" spc="-10" dirty="0">
                <a:latin typeface="Verdana"/>
                <a:cs typeface="Verdana"/>
              </a:rPr>
              <a:t>:</a:t>
            </a:r>
            <a:r>
              <a:rPr lang="en-IN" sz="1000" b="1" spc="40" dirty="0">
                <a:latin typeface="Verdana"/>
                <a:cs typeface="Verdana"/>
              </a:rPr>
              <a:t> </a:t>
            </a:r>
            <a:r>
              <a:rPr lang="en-IN" sz="1000" b="1" spc="-10" dirty="0">
                <a:latin typeface="Verdana"/>
                <a:cs typeface="Verdana"/>
              </a:rPr>
              <a:t>Full</a:t>
            </a:r>
            <a:r>
              <a:rPr lang="en-IN" sz="1000" b="1" spc="10" dirty="0">
                <a:latin typeface="Verdana"/>
                <a:cs typeface="Verdana"/>
              </a:rPr>
              <a:t> </a:t>
            </a:r>
            <a:r>
              <a:rPr lang="en-IN" sz="1000" b="1" spc="-10" dirty="0">
                <a:latin typeface="Verdana"/>
                <a:cs typeface="Verdana"/>
              </a:rPr>
              <a:t>Stack</a:t>
            </a:r>
            <a:r>
              <a:rPr lang="en-IN" sz="1000" b="1" spc="10" dirty="0">
                <a:latin typeface="Verdana"/>
                <a:cs typeface="Verdana"/>
              </a:rPr>
              <a:t> With React</a:t>
            </a:r>
            <a:r>
              <a:rPr lang="en-IN" sz="1000" b="1" spc="-10" dirty="0">
                <a:latin typeface="Verdana"/>
                <a:cs typeface="Verdana"/>
              </a:rPr>
              <a:t>, </a:t>
            </a:r>
            <a:r>
              <a:rPr lang="en-IN" sz="1000" b="1" spc="-325" dirty="0">
                <a:latin typeface="Verdana"/>
                <a:cs typeface="Verdana"/>
              </a:rPr>
              <a:t> </a:t>
            </a:r>
            <a:r>
              <a:rPr lang="en-IN" sz="1000" b="1" spc="-10" dirty="0">
                <a:latin typeface="Verdana"/>
                <a:cs typeface="Verdana"/>
              </a:rPr>
              <a:t>Spring</a:t>
            </a:r>
            <a:r>
              <a:rPr lang="en-IN" sz="1000" b="1" spc="10" dirty="0">
                <a:latin typeface="Verdana"/>
                <a:cs typeface="Verdana"/>
              </a:rPr>
              <a:t> </a:t>
            </a:r>
            <a:r>
              <a:rPr lang="en-IN" sz="1000" b="1" spc="-5" dirty="0">
                <a:latin typeface="Verdana"/>
                <a:cs typeface="Verdana"/>
              </a:rPr>
              <a:t>Boot</a:t>
            </a:r>
            <a:r>
              <a:rPr lang="en-IN" sz="1000" b="1" spc="5" dirty="0">
                <a:latin typeface="Verdana"/>
                <a:cs typeface="Verdana"/>
              </a:rPr>
              <a:t> </a:t>
            </a:r>
            <a:r>
              <a:rPr lang="en-IN" sz="1000" b="1" spc="-5" dirty="0">
                <a:latin typeface="Verdana"/>
                <a:cs typeface="Verdana"/>
              </a:rPr>
              <a:t>MS</a:t>
            </a:r>
            <a:r>
              <a:rPr lang="en-IN" sz="1000" b="1" dirty="0">
                <a:latin typeface="Verdana"/>
                <a:cs typeface="Verdana"/>
              </a:rPr>
              <a:t> </a:t>
            </a:r>
            <a:r>
              <a:rPr lang="en-IN" sz="1000" b="1" spc="-5" dirty="0">
                <a:latin typeface="Verdana"/>
                <a:cs typeface="Verdana"/>
              </a:rPr>
              <a:t>&amp;</a:t>
            </a:r>
            <a:r>
              <a:rPr lang="en-IN" sz="1000" b="1" spc="-10" dirty="0">
                <a:latin typeface="Verdana"/>
                <a:cs typeface="Verdana"/>
              </a:rPr>
              <a:t> </a:t>
            </a:r>
            <a:r>
              <a:rPr lang="en-IN" sz="1000" b="1" spc="-5" dirty="0">
                <a:latin typeface="Verdana"/>
                <a:cs typeface="Verdana"/>
              </a:rPr>
              <a:t>MongoDB</a:t>
            </a:r>
          </a:p>
          <a:p>
            <a:pPr marL="81915" indent="-69850">
              <a:spcBef>
                <a:spcPts val="1200"/>
              </a:spcBef>
              <a:buSzPct val="90000"/>
              <a:buFontTx/>
              <a:buChar char="•"/>
              <a:tabLst>
                <a:tab pos="82550" algn="l"/>
              </a:tabLst>
            </a:pPr>
            <a:r>
              <a:rPr lang="en-IN" sz="1000" dirty="0">
                <a:latin typeface="Verdana"/>
                <a:cs typeface="Verdana"/>
              </a:rPr>
              <a:t>Full</a:t>
            </a:r>
            <a:r>
              <a:rPr lang="en-IN" sz="1000" spc="-20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Stack</a:t>
            </a:r>
            <a:r>
              <a:rPr lang="en-IN" sz="1000" spc="15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developer</a:t>
            </a:r>
            <a:r>
              <a:rPr lang="en-IN" sz="1000" spc="20" dirty="0">
                <a:latin typeface="Verdana"/>
                <a:cs typeface="Verdana"/>
              </a:rPr>
              <a:t> </a:t>
            </a:r>
            <a:r>
              <a:rPr lang="en-IN" sz="1000" dirty="0">
                <a:latin typeface="Verdana"/>
                <a:cs typeface="Verdana"/>
              </a:rPr>
              <a:t>with React</a:t>
            </a:r>
            <a:r>
              <a:rPr lang="en-IN" sz="1000" spc="5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and </a:t>
            </a:r>
            <a:r>
              <a:rPr lang="en-IN" sz="1000" dirty="0">
                <a:latin typeface="Verdana"/>
                <a:cs typeface="Verdana"/>
              </a:rPr>
              <a:t>Full</a:t>
            </a:r>
            <a:r>
              <a:rPr lang="en-IN" sz="1000" spc="-15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Stack</a:t>
            </a:r>
            <a:r>
              <a:rPr lang="en-IN" sz="1000" spc="15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Java </a:t>
            </a:r>
            <a:r>
              <a:rPr lang="en-IN" sz="1000" spc="-335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Developer</a:t>
            </a:r>
            <a:endParaRPr lang="en-IN" sz="1000" dirty="0">
              <a:latin typeface="Verdana"/>
              <a:cs typeface="Verdana"/>
            </a:endParaRPr>
          </a:p>
          <a:p>
            <a:pPr marL="12065">
              <a:spcBef>
                <a:spcPts val="1200"/>
              </a:spcBef>
              <a:buSzPct val="90000"/>
              <a:tabLst>
                <a:tab pos="82550" algn="l"/>
              </a:tabLst>
            </a:pPr>
            <a:endParaRPr lang="en-IN" sz="1000" b="1" spc="-5" dirty="0">
              <a:latin typeface="Verdana"/>
              <a:cs typeface="Verdana"/>
            </a:endParaRPr>
          </a:p>
          <a:p>
            <a:pPr marL="127000" indent="-114300">
              <a:lnSpc>
                <a:spcPct val="100000"/>
              </a:lnSpc>
              <a:spcBef>
                <a:spcPts val="265"/>
              </a:spcBef>
              <a:buChar char="•"/>
              <a:tabLst>
                <a:tab pos="127000" algn="l"/>
              </a:tabLst>
            </a:pPr>
            <a:r>
              <a:rPr lang="en-IN" sz="1000" spc="-5" dirty="0">
                <a:latin typeface="Verdana"/>
                <a:cs typeface="Verdana"/>
              </a:rPr>
              <a:t>Hands</a:t>
            </a:r>
            <a:r>
              <a:rPr lang="en-IN" sz="1000" spc="10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on</a:t>
            </a:r>
            <a:r>
              <a:rPr lang="en-IN" sz="1000" spc="5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experience</a:t>
            </a:r>
            <a:r>
              <a:rPr lang="en-IN" sz="1000" spc="30" dirty="0">
                <a:latin typeface="Verdana"/>
                <a:cs typeface="Verdana"/>
              </a:rPr>
              <a:t> </a:t>
            </a:r>
            <a:r>
              <a:rPr lang="en-IN" sz="1000" dirty="0">
                <a:latin typeface="Verdana"/>
                <a:cs typeface="Verdana"/>
              </a:rPr>
              <a:t>in</a:t>
            </a:r>
            <a:r>
              <a:rPr lang="en-IN" sz="1000" spc="-5" dirty="0">
                <a:latin typeface="Verdana"/>
                <a:cs typeface="Verdana"/>
              </a:rPr>
              <a:t> developing</a:t>
            </a:r>
            <a:r>
              <a:rPr lang="en-IN" sz="1000" spc="5" dirty="0">
                <a:latin typeface="Verdana"/>
                <a:cs typeface="Verdana"/>
              </a:rPr>
              <a:t> </a:t>
            </a:r>
            <a:r>
              <a:rPr lang="en-IN" sz="1000" spc="-10" dirty="0">
                <a:latin typeface="Verdana"/>
                <a:cs typeface="Verdana"/>
              </a:rPr>
              <a:t>web</a:t>
            </a:r>
            <a:r>
              <a:rPr lang="en-IN" sz="1000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pages</a:t>
            </a:r>
            <a:endParaRPr lang="en-IN" sz="1000" dirty="0">
              <a:latin typeface="Verdana"/>
              <a:cs typeface="Verdana"/>
            </a:endParaRPr>
          </a:p>
          <a:p>
            <a:pPr marL="184785" marR="5080">
              <a:lnSpc>
                <a:spcPct val="113999"/>
              </a:lnSpc>
            </a:pPr>
            <a:r>
              <a:rPr lang="en-IN" sz="1000" dirty="0">
                <a:latin typeface="Verdana"/>
                <a:cs typeface="Verdana"/>
              </a:rPr>
              <a:t>using</a:t>
            </a:r>
            <a:r>
              <a:rPr lang="en-IN" sz="1000" spc="-10" dirty="0">
                <a:latin typeface="Verdana"/>
                <a:cs typeface="Verdana"/>
              </a:rPr>
              <a:t> </a:t>
            </a:r>
            <a:r>
              <a:rPr lang="en-IN" sz="1000" b="1" spc="-5" dirty="0">
                <a:latin typeface="Verdana"/>
                <a:cs typeface="Verdana"/>
              </a:rPr>
              <a:t>HTML5,</a:t>
            </a:r>
            <a:r>
              <a:rPr lang="en-IN" sz="1000" b="1" spc="10" dirty="0">
                <a:latin typeface="Verdana"/>
                <a:cs typeface="Verdana"/>
              </a:rPr>
              <a:t> </a:t>
            </a:r>
            <a:r>
              <a:rPr lang="en-IN" sz="1000" b="1" spc="-5" dirty="0">
                <a:latin typeface="Verdana"/>
                <a:cs typeface="Verdana"/>
              </a:rPr>
              <a:t>CSS3,</a:t>
            </a:r>
            <a:r>
              <a:rPr lang="en-IN" sz="1000" b="1" spc="15" dirty="0">
                <a:latin typeface="Verdana"/>
                <a:cs typeface="Verdana"/>
              </a:rPr>
              <a:t> </a:t>
            </a:r>
            <a:r>
              <a:rPr lang="en-IN" sz="1000" b="1" spc="-5" dirty="0">
                <a:latin typeface="Verdana"/>
                <a:cs typeface="Verdana"/>
              </a:rPr>
              <a:t>REACT</a:t>
            </a:r>
            <a:r>
              <a:rPr lang="en-IN" sz="1000" spc="-5" dirty="0">
                <a:latin typeface="Verdana"/>
                <a:cs typeface="Verdana"/>
              </a:rPr>
              <a:t>.</a:t>
            </a:r>
            <a:r>
              <a:rPr lang="en-IN" sz="1000" spc="15" dirty="0">
                <a:latin typeface="Verdana"/>
                <a:cs typeface="Verdana"/>
              </a:rPr>
              <a:t> </a:t>
            </a:r>
            <a:r>
              <a:rPr lang="en-IN" sz="1000" spc="-10" dirty="0">
                <a:latin typeface="Verdana"/>
                <a:cs typeface="Verdana"/>
              </a:rPr>
              <a:t>Good</a:t>
            </a:r>
            <a:r>
              <a:rPr lang="en-IN" sz="1000" spc="30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understanding</a:t>
            </a:r>
            <a:r>
              <a:rPr lang="en-IN" sz="1000" spc="20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of </a:t>
            </a:r>
            <a:r>
              <a:rPr lang="en-IN" sz="1000" spc="-335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Document</a:t>
            </a:r>
            <a:r>
              <a:rPr lang="en-IN" sz="1000" spc="40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Object</a:t>
            </a:r>
            <a:r>
              <a:rPr lang="en-IN" sz="1000" spc="30" dirty="0">
                <a:latin typeface="Verdana"/>
                <a:cs typeface="Verdana"/>
              </a:rPr>
              <a:t> </a:t>
            </a:r>
            <a:r>
              <a:rPr lang="en-IN" sz="1000" spc="-10" dirty="0">
                <a:latin typeface="Verdana"/>
                <a:cs typeface="Verdana"/>
              </a:rPr>
              <a:t>Model</a:t>
            </a:r>
            <a:r>
              <a:rPr lang="en-IN" sz="1000" spc="25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(DOM)</a:t>
            </a:r>
            <a:r>
              <a:rPr lang="en-IN" sz="1000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and </a:t>
            </a:r>
            <a:r>
              <a:rPr lang="en-IN" sz="1000" spc="-10" dirty="0">
                <a:latin typeface="Verdana"/>
                <a:cs typeface="Verdana"/>
              </a:rPr>
              <a:t>DOM</a:t>
            </a:r>
            <a:r>
              <a:rPr lang="en-IN" sz="1000" spc="5" dirty="0">
                <a:latin typeface="Verdana"/>
                <a:cs typeface="Verdana"/>
              </a:rPr>
              <a:t> </a:t>
            </a:r>
            <a:r>
              <a:rPr lang="en-IN" sz="1000" dirty="0">
                <a:latin typeface="Verdana"/>
                <a:cs typeface="Verdana"/>
              </a:rPr>
              <a:t>Functions.</a:t>
            </a:r>
          </a:p>
          <a:p>
            <a:pPr marL="184785" marR="5080">
              <a:lnSpc>
                <a:spcPct val="113999"/>
              </a:lnSpc>
            </a:pPr>
            <a:endParaRPr lang="en-IN" sz="1000" dirty="0">
              <a:latin typeface="Verdana"/>
              <a:cs typeface="Verdana"/>
            </a:endParaRPr>
          </a:p>
          <a:p>
            <a:pPr marL="127000" indent="-114300">
              <a:lnSpc>
                <a:spcPct val="100000"/>
              </a:lnSpc>
              <a:spcBef>
                <a:spcPts val="265"/>
              </a:spcBef>
              <a:buChar char="•"/>
              <a:tabLst>
                <a:tab pos="127000" algn="l"/>
              </a:tabLst>
            </a:pPr>
            <a:r>
              <a:rPr lang="en-IN" sz="1000" spc="-5" dirty="0">
                <a:latin typeface="Verdana"/>
                <a:cs typeface="Verdana"/>
              </a:rPr>
              <a:t>Proficient</a:t>
            </a:r>
            <a:r>
              <a:rPr lang="en-IN" sz="1000" spc="20" dirty="0">
                <a:latin typeface="Verdana"/>
                <a:cs typeface="Verdana"/>
              </a:rPr>
              <a:t> </a:t>
            </a:r>
            <a:r>
              <a:rPr lang="en-IN" sz="1000" dirty="0">
                <a:latin typeface="Verdana"/>
                <a:cs typeface="Verdana"/>
              </a:rPr>
              <a:t>in</a:t>
            </a:r>
            <a:r>
              <a:rPr lang="en-IN" sz="1000" spc="-15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creating</a:t>
            </a:r>
            <a:r>
              <a:rPr lang="en-IN" sz="1000" spc="30" dirty="0">
                <a:latin typeface="Verdana"/>
                <a:cs typeface="Verdana"/>
              </a:rPr>
              <a:t> </a:t>
            </a:r>
            <a:r>
              <a:rPr lang="en-IN" sz="1000" b="1" spc="-10" dirty="0">
                <a:latin typeface="Verdana"/>
                <a:cs typeface="Verdana"/>
              </a:rPr>
              <a:t>Single</a:t>
            </a:r>
            <a:r>
              <a:rPr lang="en-IN" sz="1000" b="1" spc="15" dirty="0">
                <a:latin typeface="Verdana"/>
                <a:cs typeface="Verdana"/>
              </a:rPr>
              <a:t> </a:t>
            </a:r>
            <a:r>
              <a:rPr lang="en-IN" sz="1000" b="1" spc="-10" dirty="0">
                <a:latin typeface="Verdana"/>
                <a:cs typeface="Verdana"/>
              </a:rPr>
              <a:t>page</a:t>
            </a:r>
            <a:r>
              <a:rPr lang="en-IN" sz="1000" b="1" dirty="0">
                <a:latin typeface="Verdana"/>
                <a:cs typeface="Verdana"/>
              </a:rPr>
              <a:t> </a:t>
            </a:r>
            <a:r>
              <a:rPr lang="en-IN" sz="1000" b="1" spc="-5" dirty="0">
                <a:latin typeface="Verdana"/>
                <a:cs typeface="Verdana"/>
              </a:rPr>
              <a:t>Web</a:t>
            </a:r>
            <a:r>
              <a:rPr lang="en-IN" sz="1000" b="1" spc="5" dirty="0">
                <a:latin typeface="Verdana"/>
                <a:cs typeface="Verdana"/>
              </a:rPr>
              <a:t> </a:t>
            </a:r>
            <a:r>
              <a:rPr lang="en-IN" sz="1000" dirty="0">
                <a:latin typeface="Verdana"/>
                <a:cs typeface="Verdana"/>
              </a:rPr>
              <a:t>Application in</a:t>
            </a:r>
          </a:p>
          <a:p>
            <a:pPr marL="184785">
              <a:lnSpc>
                <a:spcPct val="100000"/>
              </a:lnSpc>
              <a:spcBef>
                <a:spcPts val="170"/>
              </a:spcBef>
            </a:pPr>
            <a:r>
              <a:rPr lang="en-IN" sz="1000" b="1" spc="-10" dirty="0">
                <a:latin typeface="Verdana"/>
                <a:cs typeface="Verdana"/>
              </a:rPr>
              <a:t>REACT</a:t>
            </a:r>
            <a:r>
              <a:rPr lang="en-IN" sz="1000" b="1" spc="15" dirty="0">
                <a:latin typeface="Verdana"/>
                <a:cs typeface="Verdana"/>
              </a:rPr>
              <a:t> </a:t>
            </a:r>
            <a:r>
              <a:rPr lang="en-IN" sz="1000" dirty="0">
                <a:latin typeface="Verdana"/>
                <a:cs typeface="Verdana"/>
              </a:rPr>
              <a:t>with</a:t>
            </a:r>
            <a:r>
              <a:rPr lang="en-IN" sz="1000" spc="-35" dirty="0">
                <a:latin typeface="Verdana"/>
                <a:cs typeface="Verdana"/>
              </a:rPr>
              <a:t> </a:t>
            </a:r>
            <a:r>
              <a:rPr lang="en-IN" sz="1000" spc="-5" dirty="0">
                <a:latin typeface="Verdana"/>
                <a:cs typeface="Verdana"/>
              </a:rPr>
              <a:t>routing.</a:t>
            </a:r>
            <a:endParaRPr lang="en-IN" sz="1000" dirty="0">
              <a:latin typeface="Verdana"/>
              <a:cs typeface="Verdana"/>
            </a:endParaRPr>
          </a:p>
          <a:p>
            <a:pPr marL="12065">
              <a:spcBef>
                <a:spcPts val="1200"/>
              </a:spcBef>
              <a:buSzPct val="90000"/>
              <a:tabLst>
                <a:tab pos="82550" algn="l"/>
              </a:tabLst>
            </a:pPr>
            <a:endParaRPr lang="en-IN" sz="1000" dirty="0">
              <a:latin typeface="Verdana"/>
              <a:cs typeface="Verdana"/>
            </a:endParaRPr>
          </a:p>
          <a:p>
            <a:pPr marL="81915" indent="-69850">
              <a:spcBef>
                <a:spcPts val="1200"/>
              </a:spcBef>
              <a:buSzPct val="90000"/>
              <a:buFontTx/>
              <a:buChar char="•"/>
              <a:tabLst>
                <a:tab pos="82550" algn="l"/>
              </a:tabLst>
            </a:pPr>
            <a:endParaRPr sz="1000" dirty="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456178" y="243917"/>
            <a:ext cx="4041267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Pranav B. </a:t>
            </a:r>
            <a:r>
              <a:rPr lang="en-IN" spc="-5" dirty="0" err="1"/>
              <a:t>kumbhar</a:t>
            </a:r>
            <a:r>
              <a:rPr lang="en-IN" spc="-5" dirty="0"/>
              <a:t>.</a:t>
            </a:r>
            <a:endParaRPr spc="-5" dirty="0"/>
          </a:p>
        </p:txBody>
      </p:sp>
      <p:sp>
        <p:nvSpPr>
          <p:cNvPr id="23" name="object 23"/>
          <p:cNvSpPr txBox="1"/>
          <p:nvPr/>
        </p:nvSpPr>
        <p:spPr>
          <a:xfrm>
            <a:off x="9446132" y="351866"/>
            <a:ext cx="4041268" cy="495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Education</a:t>
            </a:r>
            <a:r>
              <a:rPr sz="1200" b="1" spc="-15" dirty="0">
                <a:solidFill>
                  <a:srgbClr val="006FAC"/>
                </a:solidFill>
                <a:latin typeface="Verdana"/>
                <a:cs typeface="Verdana"/>
              </a:rPr>
              <a:t> </a:t>
            </a: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and</a:t>
            </a:r>
            <a:r>
              <a:rPr sz="1200" b="1" spc="-30" dirty="0">
                <a:solidFill>
                  <a:srgbClr val="006FAC"/>
                </a:solidFill>
                <a:latin typeface="Verdana"/>
                <a:cs typeface="Verdana"/>
              </a:rPr>
              <a:t> </a:t>
            </a: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certificates</a:t>
            </a:r>
            <a:endParaRPr sz="1200" dirty="0">
              <a:latin typeface="Verdana"/>
              <a:cs typeface="Verdana"/>
            </a:endParaRPr>
          </a:p>
          <a:p>
            <a:pPr marL="76835">
              <a:lnSpc>
                <a:spcPct val="100000"/>
              </a:lnSpc>
              <a:spcBef>
                <a:spcPts val="1025"/>
              </a:spcBef>
            </a:pPr>
            <a:r>
              <a:rPr sz="1100" spc="-5" dirty="0">
                <a:latin typeface="Verdana"/>
                <a:cs typeface="Verdana"/>
              </a:rPr>
              <a:t>Bachelor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lang="en-IN" sz="1100" spc="-55" dirty="0">
                <a:latin typeface="Verdana"/>
                <a:cs typeface="Verdana"/>
              </a:rPr>
              <a:t>Of Technology </a:t>
            </a:r>
            <a:r>
              <a:rPr lang="en-IN" sz="1100" spc="-5" dirty="0">
                <a:latin typeface="Verdana"/>
                <a:cs typeface="Verdana"/>
              </a:rPr>
              <a:t>: 2018-2021</a:t>
            </a:r>
            <a:endParaRPr sz="1100" dirty="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357486" y="1570481"/>
            <a:ext cx="4038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006FAC"/>
                </a:solidFill>
                <a:latin typeface="Verdana"/>
                <a:cs typeface="Verdana"/>
              </a:rPr>
              <a:t>Skills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97933" y="3208147"/>
            <a:ext cx="3829685" cy="8534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765" algn="just">
              <a:lnSpc>
                <a:spcPct val="100000"/>
              </a:lnSpc>
              <a:spcBef>
                <a:spcPts val="95"/>
              </a:spcBef>
            </a:pPr>
            <a:r>
              <a:rPr lang="en-IN" sz="1000" b="1" spc="-10" dirty="0">
                <a:latin typeface="Verdana"/>
                <a:cs typeface="Verdana"/>
              </a:rPr>
              <a:t>MULTIPLEX TICKET BOOKING :</a:t>
            </a:r>
          </a:p>
          <a:p>
            <a:pPr marL="24765" algn="just">
              <a:lnSpc>
                <a:spcPct val="100000"/>
              </a:lnSpc>
              <a:spcBef>
                <a:spcPts val="95"/>
              </a:spcBef>
            </a:pPr>
            <a:endParaRPr lang="en-IN" sz="1000" b="1" spc="-10" dirty="0">
              <a:latin typeface="Verdana"/>
              <a:cs typeface="Verdana"/>
            </a:endParaRPr>
          </a:p>
          <a:p>
            <a:pPr marL="24765" algn="just">
              <a:lnSpc>
                <a:spcPct val="100000"/>
              </a:lnSpc>
              <a:spcBef>
                <a:spcPts val="95"/>
              </a:spcBef>
            </a:pPr>
            <a:r>
              <a:rPr sz="1100" spc="-5" dirty="0">
                <a:latin typeface="Verdana"/>
                <a:cs typeface="Verdana"/>
              </a:rPr>
              <a:t>Case study </a:t>
            </a:r>
            <a:r>
              <a:rPr sz="1100" dirty="0">
                <a:latin typeface="Verdana"/>
                <a:cs typeface="Verdana"/>
              </a:rPr>
              <a:t>of</a:t>
            </a:r>
            <a:r>
              <a:rPr lang="en-IN" sz="1100" dirty="0">
                <a:latin typeface="Verdana"/>
                <a:cs typeface="Verdana"/>
              </a:rPr>
              <a:t> Multiplex Ticket</a:t>
            </a:r>
            <a:r>
              <a:rPr lang="en-IN" sz="1100" spc="-5" dirty="0">
                <a:latin typeface="Verdana"/>
                <a:cs typeface="Verdana"/>
              </a:rPr>
              <a:t> Booking System</a:t>
            </a:r>
            <a:r>
              <a:rPr sz="110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along with </a:t>
            </a:r>
            <a:r>
              <a:rPr sz="1100" spc="-37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Spring </a:t>
            </a:r>
            <a:r>
              <a:rPr sz="1100" dirty="0">
                <a:latin typeface="Verdana"/>
                <a:cs typeface="Verdana"/>
              </a:rPr>
              <a:t>Boot, 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HTML5, </a:t>
            </a:r>
            <a:r>
              <a:rPr sz="1100" spc="-5" dirty="0">
                <a:latin typeface="Verdana"/>
                <a:cs typeface="Verdana"/>
              </a:rPr>
              <a:t>CSS </a:t>
            </a:r>
            <a:r>
              <a:rPr sz="1100" dirty="0">
                <a:latin typeface="Verdana"/>
                <a:cs typeface="Verdana"/>
              </a:rPr>
              <a:t>and </a:t>
            </a:r>
            <a:r>
              <a:rPr lang="en-IN" sz="1100" spc="-5" dirty="0">
                <a:latin typeface="Verdana"/>
                <a:cs typeface="Verdana"/>
              </a:rPr>
              <a:t>React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used </a:t>
            </a:r>
            <a:r>
              <a:rPr sz="1100" spc="-37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as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User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Interface.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797933" y="4346930"/>
            <a:ext cx="3924935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sz="1100" dirty="0">
                <a:latin typeface="Verdana"/>
                <a:cs typeface="Verdana"/>
              </a:rPr>
              <a:t>Four </a:t>
            </a:r>
            <a:r>
              <a:rPr sz="1100" spc="-5" dirty="0">
                <a:latin typeface="Verdana"/>
                <a:cs typeface="Verdana"/>
              </a:rPr>
              <a:t>layered architecture which includes </a:t>
            </a:r>
            <a:r>
              <a:rPr sz="1100" dirty="0">
                <a:latin typeface="Verdana"/>
                <a:cs typeface="Verdana"/>
              </a:rPr>
              <a:t>a </a:t>
            </a:r>
            <a:r>
              <a:rPr sz="1100" spc="-5" dirty="0">
                <a:solidFill>
                  <a:srgbClr val="1F2023"/>
                </a:solidFill>
                <a:latin typeface="Verdana"/>
                <a:cs typeface="Verdana"/>
              </a:rPr>
              <a:t>Presentation </a:t>
            </a:r>
            <a:r>
              <a:rPr sz="1100" spc="-375" dirty="0">
                <a:solidFill>
                  <a:srgbClr val="1F2023"/>
                </a:solidFill>
                <a:latin typeface="Verdana"/>
                <a:cs typeface="Verdana"/>
              </a:rPr>
              <a:t> </a:t>
            </a:r>
            <a:r>
              <a:rPr sz="1100" spc="-5" dirty="0">
                <a:solidFill>
                  <a:srgbClr val="1F2023"/>
                </a:solidFill>
                <a:latin typeface="Verdana"/>
                <a:cs typeface="Verdana"/>
              </a:rPr>
              <a:t>Layer, Business Layer, Persistence Layer </a:t>
            </a:r>
            <a:r>
              <a:rPr sz="1100" dirty="0">
                <a:solidFill>
                  <a:srgbClr val="1F2023"/>
                </a:solidFill>
                <a:latin typeface="Verdana"/>
                <a:cs typeface="Verdana"/>
              </a:rPr>
              <a:t>and </a:t>
            </a:r>
            <a:r>
              <a:rPr sz="1100" spc="-5" dirty="0">
                <a:solidFill>
                  <a:srgbClr val="1F2023"/>
                </a:solidFill>
                <a:latin typeface="Verdana"/>
                <a:cs typeface="Verdana"/>
              </a:rPr>
              <a:t>Database </a:t>
            </a:r>
            <a:r>
              <a:rPr sz="1100" spc="-375" dirty="0">
                <a:solidFill>
                  <a:srgbClr val="1F2023"/>
                </a:solidFill>
                <a:latin typeface="Verdana"/>
                <a:cs typeface="Verdana"/>
              </a:rPr>
              <a:t> </a:t>
            </a:r>
            <a:r>
              <a:rPr sz="1100" spc="-5" dirty="0">
                <a:solidFill>
                  <a:srgbClr val="1F2023"/>
                </a:solidFill>
                <a:latin typeface="Verdana"/>
                <a:cs typeface="Verdana"/>
              </a:rPr>
              <a:t>Layer</a:t>
            </a:r>
            <a:r>
              <a:rPr sz="1100" spc="-5" dirty="0">
                <a:solidFill>
                  <a:srgbClr val="1F2023"/>
                </a:solidFill>
                <a:latin typeface="Arial MT"/>
                <a:cs typeface="Arial MT"/>
              </a:rPr>
              <a:t>.</a:t>
            </a:r>
            <a:r>
              <a:rPr sz="11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100" spc="-5" dirty="0">
                <a:latin typeface="Verdana"/>
                <a:cs typeface="Verdana"/>
              </a:rPr>
              <a:t>Exception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Layer</a:t>
            </a:r>
            <a:r>
              <a:rPr sz="110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handled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the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exceptions.</a:t>
            </a:r>
            <a:endParaRPr sz="1100" dirty="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21834" y="6457594"/>
            <a:ext cx="2330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Verdana"/>
                <a:cs typeface="Verdana"/>
              </a:rPr>
              <a:t>Check out</a:t>
            </a:r>
            <a:r>
              <a:rPr sz="1200" spc="-10" dirty="0">
                <a:latin typeface="Verdana"/>
                <a:cs typeface="Verdana"/>
              </a:rPr>
              <a:t> my </a:t>
            </a:r>
            <a:r>
              <a:rPr sz="1200" spc="-5" dirty="0">
                <a:latin typeface="Verdana"/>
                <a:cs typeface="Verdana"/>
              </a:rPr>
              <a:t>work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on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GitHub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30272" y="1745843"/>
            <a:ext cx="2160905" cy="69469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Mobile</a:t>
            </a:r>
            <a:r>
              <a:rPr sz="1100" b="1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No:</a:t>
            </a:r>
            <a:r>
              <a:rPr sz="1100" b="1" spc="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7" baseline="2525" dirty="0">
                <a:solidFill>
                  <a:srgbClr val="FFFFFF"/>
                </a:solidFill>
                <a:latin typeface="Verdana"/>
                <a:cs typeface="Verdana"/>
              </a:rPr>
              <a:t>+91</a:t>
            </a:r>
            <a:r>
              <a:rPr lang="en-IN" sz="1650" spc="-15" baseline="2525" dirty="0">
                <a:solidFill>
                  <a:srgbClr val="FFFFFF"/>
                </a:solidFill>
                <a:latin typeface="Verdana"/>
                <a:cs typeface="Verdana"/>
              </a:rPr>
              <a:t>9049252449</a:t>
            </a:r>
            <a:endParaRPr sz="1650" baseline="2525" dirty="0">
              <a:latin typeface="Verdana"/>
              <a:cs typeface="Verdana"/>
            </a:endParaRPr>
          </a:p>
          <a:p>
            <a:pPr marL="18415">
              <a:lnSpc>
                <a:spcPct val="100000"/>
              </a:lnSpc>
              <a:spcBef>
                <a:spcPts val="470"/>
              </a:spcBef>
            </a:pPr>
            <a:r>
              <a:rPr sz="1650" b="1" spc="-7" baseline="5050" dirty="0">
                <a:solidFill>
                  <a:srgbClr val="FFFFFF"/>
                </a:solidFill>
                <a:latin typeface="Verdana"/>
                <a:cs typeface="Verdana"/>
              </a:rPr>
              <a:t>Grade:</a:t>
            </a:r>
            <a:r>
              <a:rPr sz="1650" b="1" spc="569" baseline="50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A4</a:t>
            </a:r>
            <a:endParaRPr sz="1100" dirty="0">
              <a:latin typeface="Verdana"/>
              <a:cs typeface="Verdana"/>
            </a:endParaRPr>
          </a:p>
          <a:p>
            <a:pPr marL="17145">
              <a:lnSpc>
                <a:spcPct val="100000"/>
              </a:lnSpc>
              <a:spcBef>
                <a:spcPts val="245"/>
              </a:spcBef>
            </a:pPr>
            <a:r>
              <a:rPr sz="1200" spc="-5" dirty="0">
                <a:solidFill>
                  <a:srgbClr val="FFFFFF"/>
                </a:solidFill>
                <a:latin typeface="Verdana"/>
                <a:cs typeface="Verdana"/>
              </a:rPr>
              <a:t>EMP</a:t>
            </a:r>
            <a:r>
              <a:rPr sz="12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FFFFFF"/>
                </a:solidFill>
                <a:latin typeface="Verdana"/>
                <a:cs typeface="Verdana"/>
              </a:rPr>
              <a:t>ID-</a:t>
            </a:r>
            <a:r>
              <a:rPr lang="en-IN" sz="12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FFFFFF"/>
                </a:solidFill>
                <a:latin typeface="Verdana"/>
                <a:cs typeface="Verdana"/>
              </a:rPr>
              <a:t>462</a:t>
            </a:r>
            <a:r>
              <a:rPr lang="en-IN" sz="1200" dirty="0">
                <a:solidFill>
                  <a:srgbClr val="FFFFFF"/>
                </a:solidFill>
                <a:latin typeface="Verdana"/>
                <a:cs typeface="Verdana"/>
              </a:rPr>
              <a:t>05866</a:t>
            </a:r>
            <a:endParaRPr sz="1200" dirty="0">
              <a:latin typeface="Verdana"/>
              <a:cs typeface="Verdana"/>
            </a:endParaRPr>
          </a:p>
        </p:txBody>
      </p:sp>
      <p:pic>
        <p:nvPicPr>
          <p:cNvPr id="21" name="Picture 20" descr="A person in a white shirt&#10;&#10;Description automatically generated with medium confidence">
            <a:extLst>
              <a:ext uri="{FF2B5EF4-FFF2-40B4-BE49-F238E27FC236}">
                <a16:creationId xmlns:a16="http://schemas.microsoft.com/office/drawing/2014/main" id="{C296CB6E-758C-4C3E-AE76-857D2AAED8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47" y="326669"/>
            <a:ext cx="1476838" cy="18333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7D4E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286</Words>
  <Application>Microsoft Office PowerPoint</Application>
  <PresentationFormat>Widescreen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 MT</vt:lpstr>
      <vt:lpstr>Calibri</vt:lpstr>
      <vt:lpstr>Verdana</vt:lpstr>
      <vt:lpstr>Office Theme</vt:lpstr>
      <vt:lpstr>Pranav B. kumbhar.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ppt template</dc:subject>
  <dc:creator>Bapat, Rashmi</dc:creator>
  <cp:lastModifiedBy>Bhaskar Kumbhar, Pranav</cp:lastModifiedBy>
  <cp:revision>12</cp:revision>
  <dcterms:created xsi:type="dcterms:W3CDTF">2022-06-20T15:56:31Z</dcterms:created>
  <dcterms:modified xsi:type="dcterms:W3CDTF">2022-06-21T14:07:58Z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2022-06-20T00:00:00Z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2022-06-20T00:00:00Z</vt:filetime>
  </property>
</Properties>
</file>